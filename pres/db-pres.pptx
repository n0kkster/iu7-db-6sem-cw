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93" d="100"/>
          <a:sy n="93" d="100"/>
        </p:scale>
        <p:origin x="207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79FC4E-497B-42BC-896C-ED2BA6A5B62D}" type="datetimeFigureOut">
              <a:rPr lang="ru-RU" smtClean="0"/>
              <a:t>30.05.2026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D1705-27C5-4DC5-BF62-46E1C932C1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9989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9D1705-27C5-4DC5-BF62-46E1C932C1FE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5820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B0F463-638E-9EC8-71CA-27EF7BD8D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6954E6E-E273-2AE2-AEE5-D508AD2AA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163F89-E003-92F1-37E5-4A96F3E28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8360B-89FB-48DF-8959-31C476855EB5}" type="datetime1">
              <a:rPr lang="ru-RU" smtClean="0"/>
              <a:t>30.05.2026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4BFAAF0-E526-7A51-7A1F-30405E62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90F918-7107-794A-9841-72C5650AB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FD8D-1141-4C52-B178-5BADBB7148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349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8424D3-586D-345E-646B-9F71AAF6B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98106D-5249-7467-70A2-AFD6C8D99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69EE49-1C2D-BDC3-71CE-8EDD4F1EF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482D0-6BE1-4668-88B7-1095589581B4}" type="datetime1">
              <a:rPr lang="ru-RU" smtClean="0"/>
              <a:t>30.05.2026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3011DA9-012E-9428-40F5-8DB6500C9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9F1AB0-6158-38C8-FBAC-53F1B76B5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FD8D-1141-4C52-B178-5BADBB7148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4870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C0A682-AB66-7E06-3AA5-1C479CCD9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7792D56-B934-5E63-D875-F61A31027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25710A9-362B-5BB8-091A-CE2D40107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1F692-D124-4100-A205-199E8690DCCE}" type="datetime1">
              <a:rPr lang="ru-RU" smtClean="0"/>
              <a:t>30.05.2026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1BF5AC4-F176-9032-3AC6-F4507E9DD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1A003B-5BD9-97B8-3A01-80B6F651A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FD8D-1141-4C52-B178-5BADBB7148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9093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DC8E85-A6F5-8852-20F7-6A7555579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4E0B6A-3DB6-5DED-12AC-C675504F5D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62ABA92-3C56-5EC4-2A23-1A292FD3F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8CD996-4EA1-F36F-6BD3-73B7E954D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B39E9-7246-4603-8631-D6E0B66D7169}" type="datetime1">
              <a:rPr lang="ru-RU" smtClean="0"/>
              <a:t>30.05.2026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EAD3376-5633-2E31-0199-3F35D9EB9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E0F114-7BCB-CF45-28B1-633FCB17E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FD8D-1141-4C52-B178-5BADBB7148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1858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4BA0BF-BC8A-3ABB-6076-CE3CBCF7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516647-427C-6402-DB1B-F30D299DF8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8051E45-2498-AC57-EF80-DD5459744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28CC5EC-D784-5BA6-1604-4D97220C8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625BAEC-B96B-009D-84D0-3D5F053FFE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86C5AB7-D75F-65E3-9870-B0A4B5A79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AD7B60-1CFF-44C2-8181-67DCAA0FC04A}" type="datetime1">
              <a:rPr lang="ru-RU" smtClean="0"/>
              <a:t>30.05.2026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2D132CD-C31E-1B0F-3B93-34740755F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C1BF1F8-8B14-C7C7-7879-88B584E27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FD8D-1141-4C52-B178-5BADBB7148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3621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FEA0D3-1EED-8057-181D-56E719E84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A1BC44-9133-F18F-E337-009DC8553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AF5D2-D4B8-4834-B02F-45329D111AD7}" type="datetime1">
              <a:rPr lang="ru-RU" smtClean="0"/>
              <a:t>30.05.2026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BF3CC52-4DCA-4046-56C6-64D280AF5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E3A25A9-141A-98C7-BE21-391AAFAA4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FD8D-1141-4C52-B178-5BADBB7148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8914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1690EC9-21F2-9827-14FE-E28188A34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0A54C-E444-4270-A0F3-ABE52E8A92C5}" type="datetime1">
              <a:rPr lang="ru-RU" smtClean="0"/>
              <a:t>30.05.2026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EFEA20E-53EA-9310-2134-5E2EE0DA4A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B8249D-0B88-5329-E576-C0965D1AB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FD8D-1141-4C52-B178-5BADBB7148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7154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6A21F9-83BF-07CC-C365-07B39D8E4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5D80EB-3863-D0BA-B27D-4AC813627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68AA14E-0239-3627-1873-4DAA73523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4AB4309-EF2A-3A33-6AC3-ED3DA640F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6645A-5391-4991-B46C-9285E9EE8E35}" type="datetime1">
              <a:rPr lang="ru-RU" smtClean="0"/>
              <a:t>30.05.2026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0DBEBE9-C98A-BA4A-3566-C97AA4B82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7EE3C5-8F98-22F7-5B70-131D8843E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FD8D-1141-4C52-B178-5BADBB7148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1521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6BF701-EC0B-AD6F-2EA7-37C716857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DB94236-54CF-FC21-6BB7-D45CA76959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8B8E6C9-5E51-FD17-FD01-7D0CB7B3C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67AAFD7-42FD-06CD-5740-D7E41DF82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7CAA5-3ADB-489E-A829-D75BC7EFB60E}" type="datetime1">
              <a:rPr lang="ru-RU" smtClean="0"/>
              <a:t>30.05.2026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FFAD0E3-F70D-7F40-4D4D-638E36FA4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8E567D3-4900-40E2-F166-4257DE7D6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FD8D-1141-4C52-B178-5BADBB7148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407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0ACE52-41D4-F044-518E-16006DA1E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6B2069-E40C-C6EC-A6D4-9C7231D429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76CCAB-DC64-43F5-AC0C-E8D9B90FA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BC8DE7-6A03-4B38-8F98-FC77296085AA}" type="datetime1">
              <a:rPr lang="ru-RU" smtClean="0"/>
              <a:t>30.05.2026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E66635-2B80-1941-2921-BD34DA0F3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F60388-05D6-2DD2-0D35-21DBAE177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FD8D-1141-4C52-B178-5BADBB7148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514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21E37B6-1BB6-4DA5-2424-06A9FB830A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796125-F60F-1912-129C-C05304158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F0CE1D-6854-97DB-41C1-443B38F57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51239-B85F-4B07-95E1-8DC3028BF273}" type="datetime1">
              <a:rPr lang="ru-RU" smtClean="0"/>
              <a:t>30.05.2026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AEA839-80BF-6015-EAE4-C5F9D78CD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ABB382-B316-04CA-D3DB-6FCD4E1D3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FD8D-1141-4C52-B178-5BADBB7148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382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89E10D-399A-5EE9-6055-A39270855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FB10CF-15E8-A697-CE32-5EABFDE47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6A0459E-2F00-99CA-6514-A8D27CC76C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95819-8770-4C0F-8507-CC0D875A6260}" type="datetime1">
              <a:rPr lang="ru-RU" smtClean="0"/>
              <a:t>30.05.2026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BEBE20-D8F4-76C3-426C-3422623550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72FBFF4-9492-6771-AF71-388659122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F2FD8D-1141-4C52-B178-5BADBB7148A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937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>
            <a:extLst>
              <a:ext uri="{FF2B5EF4-FFF2-40B4-BE49-F238E27FC236}">
                <a16:creationId xmlns:a16="http://schemas.microsoft.com/office/drawing/2014/main" id="{60E8F57A-1003-EB83-79C5-53426A5092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5840499"/>
              </p:ext>
            </p:extLst>
          </p:nvPr>
        </p:nvGraphicFramePr>
        <p:xfrm>
          <a:off x="236411" y="371613"/>
          <a:ext cx="1486263" cy="1754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2" imgW="2376332" imgH="2804714" progId="AcroExch.Document.DC">
                  <p:embed/>
                </p:oleObj>
              </mc:Choice>
              <mc:Fallback>
                <p:oleObj name="Acrobat Document" r:id="rId2" imgW="2376332" imgH="2804714" progId="AcroExch.Document.DC">
                  <p:embed/>
                  <p:pic>
                    <p:nvPicPr>
                      <p:cNvPr id="4" name="Объект 3">
                        <a:extLst>
                          <a:ext uri="{FF2B5EF4-FFF2-40B4-BE49-F238E27FC236}">
                            <a16:creationId xmlns:a16="http://schemas.microsoft.com/office/drawing/2014/main" id="{91985106-A536-3E48-97F6-0C40017065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6411" y="371613"/>
                        <a:ext cx="1486263" cy="17543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84AE550-184D-9A49-28F0-89E9A3253C45}"/>
              </a:ext>
            </a:extLst>
          </p:cNvPr>
          <p:cNvSpPr txBox="1"/>
          <p:nvPr/>
        </p:nvSpPr>
        <p:spPr>
          <a:xfrm>
            <a:off x="1896436" y="371613"/>
            <a:ext cx="839912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автономное образовательное учреждение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«Московский государственный технический университет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имени Н. Э. Баумана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(национальный исследовательский университет)»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(МГТУ им. Н. Э. Баумана)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F16999-4454-C74E-7208-0CCBE148060B}"/>
              </a:ext>
            </a:extLst>
          </p:cNvPr>
          <p:cNvSpPr txBox="1"/>
          <p:nvPr/>
        </p:nvSpPr>
        <p:spPr>
          <a:xfrm>
            <a:off x="1046250" y="2459504"/>
            <a:ext cx="100994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базы данных для анализа отказоустойчивости систем на основе микросервисной архитектуры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FE2DD1-BF4E-6889-A65E-B7A599756D0A}"/>
              </a:ext>
            </a:extLst>
          </p:cNvPr>
          <p:cNvSpPr txBox="1"/>
          <p:nvPr/>
        </p:nvSpPr>
        <p:spPr>
          <a:xfrm>
            <a:off x="3523626" y="4796110"/>
            <a:ext cx="51447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Диваев Александр Николаевич, ИУ7-62Б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Мальцева Диана Юрьевна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BE3FA2-F87B-62E3-E5AC-04F37852D629}"/>
              </a:ext>
            </a:extLst>
          </p:cNvPr>
          <p:cNvSpPr txBox="1"/>
          <p:nvPr/>
        </p:nvSpPr>
        <p:spPr>
          <a:xfrm>
            <a:off x="5251154" y="5840056"/>
            <a:ext cx="1689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Москва,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г.</a:t>
            </a:r>
          </a:p>
        </p:txBody>
      </p:sp>
    </p:spTree>
    <p:extLst>
      <p:ext uri="{BB962C8B-B14F-4D97-AF65-F5344CB8AC3E}">
        <p14:creationId xmlns:p14="http://schemas.microsoft.com/office/powerpoint/2010/main" val="403011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541718-56ED-CAA3-18E4-4A347B8EF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464"/>
            <a:ext cx="10515600" cy="842089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521CB2-C161-12AF-3154-46F9F2BDE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1845"/>
            <a:ext cx="10515600" cy="5140254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Целью данной работы является разработка базы данных для анализа отказоустойчивости систем на основе микросервисной архитектуры.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достижения поставленной цели необходимо решить следующие задачи: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buFont typeface="Times New Roman" panose="02020603050405020304" pitchFamily="18" charset="0"/>
              <a:buChar char="–"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предметной области;</a:t>
            </a:r>
          </a:p>
          <a:p>
            <a:pPr>
              <a:spcBef>
                <a:spcPts val="600"/>
              </a:spcBef>
              <a:buFont typeface="Times New Roman" panose="02020603050405020304" pitchFamily="18" charset="0"/>
              <a:buChar char="–"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существующих решений;</a:t>
            </a:r>
          </a:p>
          <a:p>
            <a:pPr>
              <a:spcBef>
                <a:spcPts val="600"/>
              </a:spcBef>
              <a:buFont typeface="Times New Roman" panose="02020603050405020304" pitchFamily="18" charset="0"/>
              <a:buChar char="–"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сформулировать требования и ограничения к разрабатываемой базе данных;</a:t>
            </a:r>
          </a:p>
          <a:p>
            <a:pPr>
              <a:spcBef>
                <a:spcPts val="600"/>
              </a:spcBef>
              <a:buFont typeface="Times New Roman" panose="02020603050405020304" pitchFamily="18" charset="0"/>
              <a:buChar char="–"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ролевую модель на уровне приложения;</a:t>
            </a:r>
          </a:p>
          <a:p>
            <a:pPr>
              <a:spcBef>
                <a:spcPts val="600"/>
              </a:spcBef>
              <a:buFont typeface="Times New Roman" panose="02020603050405020304" pitchFamily="18" charset="0"/>
              <a:buChar char="–"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выбрать СУБД для реализации разрабатываемой базы данных;</a:t>
            </a:r>
          </a:p>
          <a:p>
            <a:pPr>
              <a:spcBef>
                <a:spcPts val="600"/>
              </a:spcBef>
              <a:buFont typeface="Times New Roman" panose="02020603050405020304" pitchFamily="18" charset="0"/>
              <a:buChar char="–"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сущности базы данных и ограничения целостности топологии сети;</a:t>
            </a:r>
          </a:p>
          <a:p>
            <a:pPr>
              <a:spcBef>
                <a:spcPts val="600"/>
              </a:spcBef>
              <a:buFont typeface="Times New Roman" panose="02020603050405020304" pitchFamily="18" charset="0"/>
              <a:buChar char="–"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сформулировать требования и ограничения к разрабатываемому приложению;</a:t>
            </a:r>
          </a:p>
          <a:p>
            <a:pPr>
              <a:spcBef>
                <a:spcPts val="600"/>
              </a:spcBef>
              <a:buFont typeface="Times New Roman" panose="02020603050405020304" pitchFamily="18" charset="0"/>
              <a:buChar char="–"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выбрать средства реализации базы данных и приложения;</a:t>
            </a:r>
          </a:p>
          <a:p>
            <a:pPr>
              <a:spcBef>
                <a:spcPts val="600"/>
              </a:spcBef>
              <a:buFont typeface="Times New Roman" panose="02020603050405020304" pitchFamily="18" charset="0"/>
              <a:buChar char="–"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описать методы тестирования разработанной функциональности и разработать тесты для проверки корректности работы приложения;</a:t>
            </a:r>
          </a:p>
          <a:p>
            <a:pPr>
              <a:spcBef>
                <a:spcPts val="600"/>
              </a:spcBef>
              <a:buFont typeface="Times New Roman" panose="02020603050405020304" pitchFamily="18" charset="0"/>
              <a:buChar char="–"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исследовать зависимость времени выполнения запросов поиска зависимостей от количества узлов системы.</a:t>
            </a:r>
          </a:p>
          <a:p>
            <a:pPr marL="0" indent="0">
              <a:spcBef>
                <a:spcPts val="600"/>
              </a:spcBef>
              <a:buNone/>
            </a:pPr>
            <a:endParaRPr lang="ru-RU" sz="19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CAB2DAA-237A-712E-B4AA-13C2028EE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FD8D-1141-4C52-B178-5BADBB7148AD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4183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6F311-D0EB-A58C-343B-E1A6F8E53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7D63C6-21B2-37E0-0637-292DE03A2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464"/>
            <a:ext cx="10515600" cy="842089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анализа предметной области</a:t>
            </a:r>
            <a:endParaRPr lang="ru-RU" sz="4000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2B67256A-7759-AF25-8811-D5BBEBADEE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3018265"/>
              </p:ext>
            </p:extLst>
          </p:nvPr>
        </p:nvGraphicFramePr>
        <p:xfrm>
          <a:off x="838200" y="1032553"/>
          <a:ext cx="10515595" cy="52496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19">
                  <a:extLst>
                    <a:ext uri="{9D8B030D-6E8A-4147-A177-3AD203B41FA5}">
                      <a16:colId xmlns:a16="http://schemas.microsoft.com/office/drawing/2014/main" val="4092902829"/>
                    </a:ext>
                  </a:extLst>
                </a:gridCol>
                <a:gridCol w="2103119">
                  <a:extLst>
                    <a:ext uri="{9D8B030D-6E8A-4147-A177-3AD203B41FA5}">
                      <a16:colId xmlns:a16="http://schemas.microsoft.com/office/drawing/2014/main" val="846213611"/>
                    </a:ext>
                  </a:extLst>
                </a:gridCol>
                <a:gridCol w="2103119">
                  <a:extLst>
                    <a:ext uri="{9D8B030D-6E8A-4147-A177-3AD203B41FA5}">
                      <a16:colId xmlns:a16="http://schemas.microsoft.com/office/drawing/2014/main" val="1257629337"/>
                    </a:ext>
                  </a:extLst>
                </a:gridCol>
                <a:gridCol w="2103119">
                  <a:extLst>
                    <a:ext uri="{9D8B030D-6E8A-4147-A177-3AD203B41FA5}">
                      <a16:colId xmlns:a16="http://schemas.microsoft.com/office/drawing/2014/main" val="1956074836"/>
                    </a:ext>
                  </a:extLst>
                </a:gridCol>
                <a:gridCol w="2103119">
                  <a:extLst>
                    <a:ext uri="{9D8B030D-6E8A-4147-A177-3AD203B41FA5}">
                      <a16:colId xmlns:a16="http://schemas.microsoft.com/office/drawing/2014/main" val="3679428662"/>
                    </a:ext>
                  </a:extLst>
                </a:gridCol>
              </a:tblGrid>
              <a:tr h="1134804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Инструмент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Основное назначение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Модель данных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Метод выявления проблем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Анализ влияния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117351"/>
                  </a:ext>
                </a:extLst>
              </a:tr>
              <a:tr h="113480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ITRS </a:t>
                      </a:r>
                      <a:r>
                        <a:rPr lang="en-US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Geneos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Контроль состояния серверов и приложений в реальном времени.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Иерархическая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Реактивный. Сравнение текущих значений с пороговыми.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Ручной / Правила. Требует настройки корреляции событий.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0546574"/>
                  </a:ext>
                </a:extLst>
              </a:tr>
              <a:tr h="113480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Prometheus + Grafana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Сбор и визуализация метрик, анализ трендов.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Временные ряды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Реактивный. Мониторинг, отклонений, оповещения.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Отсутствует. Показывает состояние метрик, но не моделирует зависимости сбоев.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760500"/>
                  </a:ext>
                </a:extLst>
              </a:tr>
              <a:tr h="1134804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Разрабатываемое решение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Анализ топологии инфраструктуры и моделирование отказов при проектировании.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Графовая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Проактивный. Алгоритмический анализ структуры зависимостей до развертывания.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Автоматический. Расчет каскадного эффекта на основе алгоритмов обхода графа.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5466251"/>
                  </a:ext>
                </a:extLst>
              </a:tr>
            </a:tbl>
          </a:graphicData>
        </a:graphic>
      </p:graphicFrame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F0AEAAAB-F87F-B130-6E3B-2E80FA059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FD8D-1141-4C52-B178-5BADBB7148AD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4184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0DCF0-E6FD-54B9-E6AD-28C6B3583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BA071D-69F0-167F-53D8-5CA67E090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464"/>
            <a:ext cx="10515600" cy="842089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прецедентов</a:t>
            </a:r>
            <a:endParaRPr lang="ru-RU" sz="4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45248F4-7DF8-2E78-46A9-FF0E268A73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4673" y="976007"/>
            <a:ext cx="10265596" cy="5691529"/>
          </a:xfrm>
          <a:prstGeom prst="rect">
            <a:avLst/>
          </a:prstGeom>
        </p:spPr>
      </p:pic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2587785-54F1-0C1D-5ED7-4DBDEDB2C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FD8D-1141-4C52-B178-5BADBB7148AD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9319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E9E75-C86A-F877-6C97-845F325FA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2549DF-9F8F-DBB5-005B-1D215ADAE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464"/>
            <a:ext cx="10515600" cy="842089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сущность-связь реляционной БД</a:t>
            </a:r>
            <a:endParaRPr lang="ru-RU" sz="4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B873998-DC97-57DC-3310-B08C8ACB2A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00719" y="1032552"/>
            <a:ext cx="8215195" cy="5642815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3118A27-1233-C7DE-E9F2-96F10B7F3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FD8D-1141-4C52-B178-5BADBB7148AD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1698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0A074-AB39-E892-5A08-31D749CF0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A5B28E-DB91-66DD-F01A-5D661B454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464"/>
            <a:ext cx="10515600" cy="842089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сущность-связь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графовой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БД</a:t>
            </a:r>
            <a:endParaRPr lang="ru-RU" sz="4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844E8FF-A4A3-21BC-1ACE-8E6B0DD13D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23987" y="1227869"/>
            <a:ext cx="9344025" cy="5162550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7B645E-E697-54F9-B7E7-658B8E1BB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FD8D-1141-4C52-B178-5BADBB7148AD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1717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4E2AB-300F-7C8C-0830-5B754E21F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E58028-71B8-EF67-EC3D-9C538676B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464"/>
            <a:ext cx="10515600" cy="842089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реляционной базы данных</a:t>
            </a:r>
            <a:endParaRPr lang="ru-RU" sz="4000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C6928AB6-1F94-6F71-7EDF-44DE980D3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FD8D-1141-4C52-B178-5BADBB7148AD}" type="slidenum">
              <a:rPr lang="ru-RU" smtClean="0"/>
              <a:t>7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CADE6B6-A55C-1371-59D3-0D7779C3C6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3246" y="1032553"/>
            <a:ext cx="9645507" cy="561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676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0716D-C826-5EDF-285A-BD9ACFBE8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0EA35C-A107-43BD-2BBD-3BE75AFEB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464"/>
            <a:ext cx="10515600" cy="842089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реляционной СУБД</a:t>
            </a:r>
            <a:endParaRPr lang="ru-RU" sz="4000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B451A1DC-C04E-69AA-1718-5D533F936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FD8D-1141-4C52-B178-5BADBB7148AD}" type="slidenum">
              <a:rPr lang="ru-RU" smtClean="0"/>
              <a:t>8</a:t>
            </a:fld>
            <a:endParaRPr lang="ru-RU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E752CCBD-889D-9DD5-19E3-97FD82AF00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190331"/>
              </p:ext>
            </p:extLst>
          </p:nvPr>
        </p:nvGraphicFramePr>
        <p:xfrm>
          <a:off x="714910" y="1089061"/>
          <a:ext cx="10762180" cy="523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0545">
                  <a:extLst>
                    <a:ext uri="{9D8B030D-6E8A-4147-A177-3AD203B41FA5}">
                      <a16:colId xmlns:a16="http://schemas.microsoft.com/office/drawing/2014/main" val="1741623713"/>
                    </a:ext>
                  </a:extLst>
                </a:gridCol>
                <a:gridCol w="2690545">
                  <a:extLst>
                    <a:ext uri="{9D8B030D-6E8A-4147-A177-3AD203B41FA5}">
                      <a16:colId xmlns:a16="http://schemas.microsoft.com/office/drawing/2014/main" val="3372689991"/>
                    </a:ext>
                  </a:extLst>
                </a:gridCol>
                <a:gridCol w="2690545">
                  <a:extLst>
                    <a:ext uri="{9D8B030D-6E8A-4147-A177-3AD203B41FA5}">
                      <a16:colId xmlns:a16="http://schemas.microsoft.com/office/drawing/2014/main" val="1046949871"/>
                    </a:ext>
                  </a:extLst>
                </a:gridCol>
                <a:gridCol w="2690545">
                  <a:extLst>
                    <a:ext uri="{9D8B030D-6E8A-4147-A177-3AD203B41FA5}">
                      <a16:colId xmlns:a16="http://schemas.microsoft.com/office/drawing/2014/main" val="298486947"/>
                    </a:ext>
                  </a:extLst>
                </a:gridCol>
              </a:tblGrid>
              <a:tr h="1012004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СУБД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Открытый исходный код и бесплатное распространение.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Поддержка стандарта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Кроссплатформенность и поддержка запуска в изолированных контейнерах.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228097"/>
                  </a:ext>
                </a:extLst>
              </a:tr>
              <a:tr h="101200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356668"/>
                  </a:ext>
                </a:extLst>
              </a:tr>
              <a:tr h="101200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MySQL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Частично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706785"/>
                  </a:ext>
                </a:extLst>
              </a:tr>
              <a:tr h="101200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Microsoft SQL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175359"/>
                  </a:ext>
                </a:extLst>
              </a:tr>
              <a:tr h="101200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Oracle Database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2736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4057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DBA1C-D18D-A256-E5A3-4ABA4AE67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10DFB4-A0BF-7F86-C9FC-B1D168484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464"/>
            <a:ext cx="10515600" cy="842089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</a:t>
            </a:r>
            <a:r>
              <a:rPr lang="ru-RU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графовой</a:t>
            </a: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СУБД</a:t>
            </a:r>
            <a:endParaRPr lang="ru-RU" sz="4000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33D5CFBD-F7D6-5EA2-88CB-D4F4949AC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FD8D-1141-4C52-B178-5BADBB7148AD}" type="slidenum">
              <a:rPr lang="ru-RU" smtClean="0"/>
              <a:t>9</a:t>
            </a:fld>
            <a:endParaRPr lang="ru-RU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EB9DD359-9B4A-014A-5779-CC476711C7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5854562"/>
              </p:ext>
            </p:extLst>
          </p:nvPr>
        </p:nvGraphicFramePr>
        <p:xfrm>
          <a:off x="714910" y="1089061"/>
          <a:ext cx="10762180" cy="4048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0545">
                  <a:extLst>
                    <a:ext uri="{9D8B030D-6E8A-4147-A177-3AD203B41FA5}">
                      <a16:colId xmlns:a16="http://schemas.microsoft.com/office/drawing/2014/main" val="1741623713"/>
                    </a:ext>
                  </a:extLst>
                </a:gridCol>
                <a:gridCol w="2690545">
                  <a:extLst>
                    <a:ext uri="{9D8B030D-6E8A-4147-A177-3AD203B41FA5}">
                      <a16:colId xmlns:a16="http://schemas.microsoft.com/office/drawing/2014/main" val="3372689991"/>
                    </a:ext>
                  </a:extLst>
                </a:gridCol>
                <a:gridCol w="2690545">
                  <a:extLst>
                    <a:ext uri="{9D8B030D-6E8A-4147-A177-3AD203B41FA5}">
                      <a16:colId xmlns:a16="http://schemas.microsoft.com/office/drawing/2014/main" val="1046949871"/>
                    </a:ext>
                  </a:extLst>
                </a:gridCol>
                <a:gridCol w="2690545">
                  <a:extLst>
                    <a:ext uri="{9D8B030D-6E8A-4147-A177-3AD203B41FA5}">
                      <a16:colId xmlns:a16="http://schemas.microsoft.com/office/drawing/2014/main" val="298486947"/>
                    </a:ext>
                  </a:extLst>
                </a:gridCol>
              </a:tblGrid>
              <a:tr h="1012004"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СУБД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Нативная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графовая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архитектура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хранения и обработки данных.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Наличие встроенной библиотеки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графовых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алгоритмов.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Наличие бесплатной версии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228097"/>
                  </a:ext>
                </a:extLst>
              </a:tr>
              <a:tr h="1012004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Neo4j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356668"/>
                  </a:ext>
                </a:extLst>
              </a:tr>
              <a:tr h="1012004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ArangoDB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706785"/>
                  </a:ext>
                </a:extLst>
              </a:tr>
              <a:tr h="1012004">
                <a:tc>
                  <a:txBody>
                    <a:bodyPr/>
                    <a:lstStyle/>
                    <a:p>
                      <a:pPr algn="ctr"/>
                      <a:r>
                        <a:rPr lang="en-US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OrientDB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3175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435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F5329-70B5-F3BE-1570-FA3C68FF6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5365E3-44FE-C2AD-B9EF-DB43A556E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464"/>
            <a:ext cx="10515600" cy="842089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реализации</a:t>
            </a:r>
            <a:endParaRPr lang="ru-RU" sz="4000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1F5F3A1D-E01B-C493-BFCA-0A7D2EED1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FD8D-1141-4C52-B178-5BADBB7148AD}" type="slidenum">
              <a:rPr lang="ru-RU" smtClean="0"/>
              <a:t>10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359988-A19C-45F7-D184-ED906045AEA3}"/>
              </a:ext>
            </a:extLst>
          </p:cNvPr>
          <p:cNvSpPr txBox="1"/>
          <p:nvPr/>
        </p:nvSpPr>
        <p:spPr>
          <a:xfrm>
            <a:off x="838200" y="1352182"/>
            <a:ext cx="10515600" cy="346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Calibri" panose="020F0502020204030204" pitchFamily="34" charset="0"/>
              <a:buChar char="–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C# - современный объектно-ориентированный, статически типизированный язык программирования общего назначения, разработанный корпорацией Microsoft.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Calibri" panose="020F0502020204030204" pitchFamily="34" charset="0"/>
              <a:buChar char="–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.NET 10 - открытая кроссплатформенная программная платформа для создания высокопроизводительных облачных, настольных и серверных приложений.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Calibri" panose="020F0502020204030204" pitchFamily="34" charset="0"/>
              <a:buChar char="–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Core - полнофункциональная библиотека объектно-реляционного отображения для платформы .NET, автоматизирующая взаимодействие с реляционными базами данных.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Calibri" panose="020F0502020204030204" pitchFamily="34" charset="0"/>
              <a:buChar char="–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Neo4j.Driver - официальная клиентская библиотека для интеграции приложений на платформе .NET с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графовой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системой управления базами данных Neo4j.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Calibri" panose="020F0502020204030204" pitchFamily="34" charset="0"/>
              <a:buChar char="–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свободная объектно-реляционная система управления базами данных с открытым исходным кодом.</a:t>
            </a:r>
          </a:p>
          <a:p>
            <a:pPr marL="285750" indent="-285750">
              <a:lnSpc>
                <a:spcPct val="90000"/>
              </a:lnSpc>
              <a:spcBef>
                <a:spcPts val="600"/>
              </a:spcBef>
              <a:buFont typeface="Calibri" panose="020F0502020204030204" pitchFamily="34" charset="0"/>
              <a:buChar char="–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Neo4j - нативная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графовая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система управления базами данных, оптимизированная для работы со сложными,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высокосвязными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структурами и сетевыми топологиями.</a:t>
            </a:r>
          </a:p>
        </p:txBody>
      </p:sp>
    </p:spTree>
    <p:extLst>
      <p:ext uri="{BB962C8B-B14F-4D97-AF65-F5344CB8AC3E}">
        <p14:creationId xmlns:p14="http://schemas.microsoft.com/office/powerpoint/2010/main" val="3700950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654D8-65FB-E6FE-9BBD-E2BE7EA65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D7C03-B77E-A293-2316-0D9012465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464"/>
            <a:ext cx="10515600" cy="842089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 разработанного приложения</a:t>
            </a:r>
            <a:endParaRPr lang="ru-RU" sz="4000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EB507562-4419-8D1C-7DBA-880B7E2FC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FD8D-1141-4C52-B178-5BADBB7148AD}" type="slidenum">
              <a:rPr lang="ru-RU" smtClean="0"/>
              <a:t>11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D30796-0A45-7583-13FC-F944304EA629}"/>
              </a:ext>
            </a:extLst>
          </p:cNvPr>
          <p:cNvSpPr txBox="1"/>
          <p:nvPr/>
        </p:nvSpPr>
        <p:spPr>
          <a:xfrm>
            <a:off x="4171308" y="3389154"/>
            <a:ext cx="38493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модульного тестирования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8184B08-AAC9-83D4-51F2-6FEB97DA63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72377"/>
            <a:ext cx="10515600" cy="211677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D5728DE-63DE-1825-7E47-4BCEC1C2D6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03809"/>
            <a:ext cx="10515600" cy="137323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069EDE4-076B-D0A8-CD53-E9856B79F6C8}"/>
              </a:ext>
            </a:extLst>
          </p:cNvPr>
          <p:cNvSpPr txBox="1"/>
          <p:nvPr/>
        </p:nvSpPr>
        <p:spPr>
          <a:xfrm>
            <a:off x="3904179" y="5477045"/>
            <a:ext cx="4383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интеграционного тестирования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4244927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819A-8A2B-53EF-D033-1BF205EA6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5A889E-4516-F04F-B44A-83CAE585F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464"/>
            <a:ext cx="10515600" cy="171025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зависимости времени выполнения поиска каскадных зависимостей от количества узлов в системе</a:t>
            </a:r>
            <a:endParaRPr lang="ru-RU" sz="4000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C93FFDE4-77C9-C990-A0A6-9906D6805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FD8D-1141-4C52-B178-5BADBB7148AD}" type="slidenum">
              <a:rPr lang="ru-RU" smtClean="0"/>
              <a:t>12</a:t>
            </a:fld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DC369EC-30E9-C193-E87E-E7F472BC31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09001" y="2590763"/>
            <a:ext cx="8173998" cy="408699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5FC06C4-4B6F-47C4-8FA3-5E2711DEAA9E}"/>
              </a:ext>
            </a:extLst>
          </p:cNvPr>
          <p:cNvSpPr txBox="1"/>
          <p:nvPr/>
        </p:nvSpPr>
        <p:spPr>
          <a:xfrm>
            <a:off x="838200" y="1944432"/>
            <a:ext cx="10658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выполнения анализа незначительно увеличивается при росте количества узлов: при десятикратном увеличении количества узлов, время выполнения анализа выросло в 3 раза.</a:t>
            </a:r>
          </a:p>
        </p:txBody>
      </p:sp>
    </p:spTree>
    <p:extLst>
      <p:ext uri="{BB962C8B-B14F-4D97-AF65-F5344CB8AC3E}">
        <p14:creationId xmlns:p14="http://schemas.microsoft.com/office/powerpoint/2010/main" val="857451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ED0BA-7708-3D62-E79C-7EC73737E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10F03D-6D45-8599-526E-76DD18D69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464"/>
            <a:ext cx="10515600" cy="1710255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зависимости времени выполнения поиска циклических зависимостей от количества циклов в системе</a:t>
            </a:r>
            <a:endParaRPr lang="ru-RU" sz="4000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7092C46C-A678-2B79-DA14-4B030CCEA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FD8D-1141-4C52-B178-5BADBB7148AD}" type="slidenum">
              <a:rPr lang="ru-RU" smtClean="0"/>
              <a:t>13</a:t>
            </a:fld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03AB00-BE68-4044-E351-4A01D4647797}"/>
              </a:ext>
            </a:extLst>
          </p:cNvPr>
          <p:cNvSpPr txBox="1"/>
          <p:nvPr/>
        </p:nvSpPr>
        <p:spPr>
          <a:xfrm>
            <a:off x="838200" y="1944432"/>
            <a:ext cx="106585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выполнения анализа увеличивается при росте количества циклов: при десятикратном увеличении 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количества узлов, время выполнения анализа выросло в 5 раз.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3533615-E250-1023-0164-84EB6F78FE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73630" y="2590763"/>
            <a:ext cx="8044740" cy="402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391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3F025-3A0D-3AC9-7BCE-2EF77C324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47ACC9-5001-815D-5D4A-9F85F8B1A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465"/>
            <a:ext cx="10515600" cy="826678"/>
          </a:xfrm>
        </p:spPr>
        <p:txBody>
          <a:bodyPr>
            <a:normAutofit/>
          </a:bodyPr>
          <a:lstStyle/>
          <a:p>
            <a:pPr algn="ctr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sz="4000" dirty="0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19AB6E8A-EA22-A377-DB75-868938A92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2FD8D-1141-4C52-B178-5BADBB7148AD}" type="slidenum">
              <a:rPr lang="ru-RU" smtClean="0"/>
              <a:t>14</a:t>
            </a:fld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E56E69-B6A1-8CB3-0DE7-B8B6A9BE6AF9}"/>
              </a:ext>
            </a:extLst>
          </p:cNvPr>
          <p:cNvSpPr txBox="1"/>
          <p:nvPr/>
        </p:nvSpPr>
        <p:spPr>
          <a:xfrm>
            <a:off x="858320" y="1017143"/>
            <a:ext cx="1047536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выполнения курсовой работы поставленная цель достигнута — была успешно спроектирована и разработана база данных для анализа отказоустойчивости систем на основе микросервисной архитектуры, а также реализовано веб-приложение, предоставляющее пользовательский интерфейс для работы с ней. Все поставленные задачи выполнены:</a:t>
            </a:r>
          </a:p>
          <a:p>
            <a:pPr marL="285750" indent="-285750">
              <a:buFont typeface="Times New Roman" panose="02020603050405020304" pitchFamily="18" charset="0"/>
              <a:buChar char="–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 анализ предметной области обеспечения надежности распределенных систем, а также существующих систем мониторинга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buFont typeface="Times New Roman" panose="02020603050405020304" pitchFamily="18" charset="0"/>
              <a:buChar char="–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сформулированы требования к системе и обоснован выбор подхода к хранению информации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buFont typeface="Times New Roman" panose="02020603050405020304" pitchFamily="18" charset="0"/>
              <a:buChar char="–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ролевая модель управления правами доступа пользователей на уровне приложения;</a:t>
            </a:r>
          </a:p>
          <a:p>
            <a:pPr marL="285750" indent="-285750">
              <a:buFont typeface="Times New Roman" panose="02020603050405020304" pitchFamily="18" charset="0"/>
              <a:buChar char="–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спроектированы структуры реляционной базы данных и модели графа свойств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buFont typeface="Times New Roman" panose="02020603050405020304" pitchFamily="18" charset="0"/>
              <a:buChar char="–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выбраны средства разработки: язык программирования C#, платформа .NET 10, фреймворк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 Core и расширение процедур APOC для Neo4j;</a:t>
            </a:r>
          </a:p>
          <a:p>
            <a:pPr marL="285750" indent="-285750">
              <a:buFont typeface="Times New Roman" panose="02020603050405020304" pitchFamily="18" charset="0"/>
              <a:buChar char="–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проведено тестирование программного обеспечения путем написания модульных и интеграционных тестов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85750" indent="-285750">
              <a:buFont typeface="Times New Roman" panose="02020603050405020304" pitchFamily="18" charset="0"/>
              <a:buChar char="–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проведено исследование временной эффективности разработанных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алгоритмов, которое подтвердило высокую производительность и масштабируемость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графовой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базы данных на топологиях, содержащих до десяти тысяч узлов и десятки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циклических зависимостей.</a:t>
            </a:r>
          </a:p>
        </p:txBody>
      </p:sp>
    </p:spTree>
    <p:extLst>
      <p:ext uri="{BB962C8B-B14F-4D97-AF65-F5344CB8AC3E}">
        <p14:creationId xmlns:p14="http://schemas.microsoft.com/office/powerpoint/2010/main" val="296133032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743</Words>
  <Application>Microsoft Office PowerPoint</Application>
  <PresentationFormat>Широкоэкранный</PresentationFormat>
  <Paragraphs>123</Paragraphs>
  <Slides>14</Slides>
  <Notes>1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Тема Office</vt:lpstr>
      <vt:lpstr>Acrobat Document</vt:lpstr>
      <vt:lpstr>Презентация PowerPoint</vt:lpstr>
      <vt:lpstr>Цель и задачи</vt:lpstr>
      <vt:lpstr>Результаты анализа предметной области</vt:lpstr>
      <vt:lpstr>Диаграмма прецедентов</vt:lpstr>
      <vt:lpstr>Диаграмма сущность-связь реляционной БД</vt:lpstr>
      <vt:lpstr>Диаграмма сущность-связь графовой БД</vt:lpstr>
      <vt:lpstr>Диаграмма реляционной базы данных</vt:lpstr>
      <vt:lpstr>Выбор реляционной СУБД</vt:lpstr>
      <vt:lpstr>Выбор графовой СУБД</vt:lpstr>
      <vt:lpstr>Средства реализации</vt:lpstr>
      <vt:lpstr>Тестирование разработанного приложения</vt:lpstr>
      <vt:lpstr>Исследование зависимости времени выполнения поиска каскадных зависимостей от количества узлов в системе</vt:lpstr>
      <vt:lpstr>Исследование зависимости времени выполнения поиска циклических зависимостей от количества циклов в системе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Zero</dc:creator>
  <cp:lastModifiedBy>Zero</cp:lastModifiedBy>
  <cp:revision>12</cp:revision>
  <dcterms:created xsi:type="dcterms:W3CDTF">2026-05-29T21:15:58Z</dcterms:created>
  <dcterms:modified xsi:type="dcterms:W3CDTF">2026-05-30T12:27:13Z</dcterms:modified>
</cp:coreProperties>
</file>